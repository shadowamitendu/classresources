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C91729-EB3E-4E40-BC1B-2DA2F607F201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5B3B81-A426-445B-9039-00248A79F6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5200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3FECFA6A-B6CD-4F91-972F-0095DBD1161B}" type="datetime1">
              <a:rPr lang="en-US" smtClean="0"/>
              <a:t>1/30/2026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3042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4C233-F730-42C0-BDEC-12F7B2F80945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278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98072-6853-459D-9000-D4D313F7A010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72007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83D0A-EE04-4F1C-997F-AD7333AAD6C1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792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3668B-2B9A-497A-973A-71BB8804750A}" type="datetime1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941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FC8E8-B495-40E1-82E9-D3C0D295127D}" type="datetime1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519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A34E7-8693-43D7-9C00-EEC88CAF2385}" type="datetime1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00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5569-6FA0-48EB-A1BC-6B26C44FB420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948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0D162-CA70-4359-BEAB-066291F29F09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74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5A3F2-0B93-4A3D-B8A3-7ED96230A8B2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46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DF2DB-4931-4513-8724-5136313D0FAB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508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8063D901-0EE8-47F6-A199-F5A75CB15297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341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3977640"/>
          </a:xfrm>
        </p:spPr>
        <p:txBody>
          <a:bodyPr>
            <a:normAutofit fontScale="90000"/>
          </a:bodyPr>
          <a:lstStyle/>
          <a:p>
            <a:r>
              <a:rPr sz="8000" dirty="0"/>
              <a:t>Introduction</a:t>
            </a:r>
            <a:r>
              <a:rPr lang="en-IN" sz="8000" dirty="0"/>
              <a:t> </a:t>
            </a:r>
            <a:r>
              <a:rPr sz="8000" dirty="0"/>
              <a:t>to Java </a:t>
            </a:r>
            <a:r>
              <a:rPr lang="en-IN" sz="8000" dirty="0"/>
              <a:t>enterprise Edition </a:t>
            </a:r>
            <a:endParaRPr sz="8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736592"/>
            <a:ext cx="7063740" cy="1755648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Name</a:t>
            </a:r>
            <a:r>
              <a:rPr lang="en-IN" dirty="0"/>
              <a:t>		</a:t>
            </a:r>
            <a:r>
              <a:rPr dirty="0"/>
              <a:t>: Amitendu Bikash Dhusiya</a:t>
            </a:r>
          </a:p>
          <a:p>
            <a:r>
              <a:rPr dirty="0"/>
              <a:t>Roll No</a:t>
            </a:r>
            <a:r>
              <a:rPr lang="en-IN" dirty="0"/>
              <a:t>		</a:t>
            </a:r>
            <a:r>
              <a:rPr dirty="0"/>
              <a:t>: </a:t>
            </a:r>
            <a:r>
              <a:rPr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15242723010</a:t>
            </a:r>
          </a:p>
          <a:p>
            <a:r>
              <a:rPr dirty="0"/>
              <a:t>Subject Code</a:t>
            </a:r>
            <a:r>
              <a:rPr lang="en-IN" dirty="0"/>
              <a:t>	</a:t>
            </a:r>
            <a:r>
              <a:rPr dirty="0"/>
              <a:t>: </a:t>
            </a:r>
            <a:r>
              <a:rPr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BCAC601</a:t>
            </a:r>
          </a:p>
          <a:p>
            <a:r>
              <a:rPr dirty="0"/>
              <a:t>Subject</a:t>
            </a:r>
            <a:r>
              <a:rPr lang="en-IN" dirty="0"/>
              <a:t>		</a:t>
            </a:r>
            <a:r>
              <a:rPr dirty="0"/>
              <a:t>: Advance Java with Web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Java 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IN" sz="2400" b="1" dirty="0"/>
              <a:t>Java EE </a:t>
            </a:r>
            <a:r>
              <a:rPr lang="en-IN" sz="2400" dirty="0"/>
              <a:t>(</a:t>
            </a:r>
            <a:r>
              <a:rPr lang="en-IN" sz="2400" i="1" dirty="0"/>
              <a:t>Java Platform, Enterprise Edition now known as Jakarta</a:t>
            </a:r>
            <a:r>
              <a:rPr lang="en-IN" sz="2400" dirty="0"/>
              <a:t>) is an </a:t>
            </a:r>
            <a:r>
              <a:rPr lang="en-IN" sz="2400" b="1" dirty="0"/>
              <a:t>extension</a:t>
            </a:r>
            <a:r>
              <a:rPr lang="en-IN" sz="2400" dirty="0"/>
              <a:t> of </a:t>
            </a:r>
            <a:r>
              <a:rPr lang="en-IN" sz="2400" b="1" dirty="0"/>
              <a:t>Java SE</a:t>
            </a:r>
            <a:r>
              <a:rPr lang="en-IN" sz="2400" dirty="0"/>
              <a:t>.</a:t>
            </a:r>
          </a:p>
          <a:p>
            <a:pPr>
              <a:lnSpc>
                <a:spcPct val="100000"/>
              </a:lnSpc>
            </a:pPr>
            <a:r>
              <a:rPr lang="en-IN" sz="2400" dirty="0"/>
              <a:t>It is </a:t>
            </a:r>
            <a:r>
              <a:rPr lang="en-IN" sz="2400" b="1" dirty="0"/>
              <a:t>designed</a:t>
            </a:r>
            <a:r>
              <a:rPr lang="en-IN" sz="2400" dirty="0"/>
              <a:t> for </a:t>
            </a:r>
            <a:r>
              <a:rPr lang="en-IN" sz="2400" b="1" dirty="0"/>
              <a:t>developing</a:t>
            </a:r>
            <a:r>
              <a:rPr lang="en-IN" sz="2400" dirty="0"/>
              <a:t> </a:t>
            </a:r>
            <a:r>
              <a:rPr lang="en-IN" sz="2400" b="1" dirty="0"/>
              <a:t>large-scale</a:t>
            </a:r>
            <a:r>
              <a:rPr lang="en-IN" sz="2400" dirty="0"/>
              <a:t>, </a:t>
            </a:r>
            <a:r>
              <a:rPr lang="en-IN" sz="2400" b="1" dirty="0"/>
              <a:t>distributed</a:t>
            </a:r>
            <a:r>
              <a:rPr lang="en-IN" sz="2400" dirty="0"/>
              <a:t>, and </a:t>
            </a:r>
            <a:r>
              <a:rPr lang="en-IN" sz="2400" b="1" dirty="0"/>
              <a:t>multi-tier applications</a:t>
            </a:r>
            <a:r>
              <a:rPr lang="en-IN" sz="2400" dirty="0"/>
              <a:t>.</a:t>
            </a:r>
          </a:p>
          <a:p>
            <a:pPr>
              <a:lnSpc>
                <a:spcPct val="100000"/>
              </a:lnSpc>
            </a:pPr>
            <a:r>
              <a:rPr lang="en-IN" sz="2400" dirty="0"/>
              <a:t>Provides standardized </a:t>
            </a:r>
            <a:r>
              <a:rPr lang="en-IN" sz="2400" b="1" dirty="0"/>
              <a:t>APIs</a:t>
            </a:r>
            <a:r>
              <a:rPr lang="en-IN" sz="2400" dirty="0"/>
              <a:t> for </a:t>
            </a:r>
            <a:r>
              <a:rPr lang="en-IN" sz="2400" b="1" dirty="0"/>
              <a:t>web</a:t>
            </a:r>
            <a:r>
              <a:rPr lang="en-IN" sz="2400" dirty="0"/>
              <a:t>, </a:t>
            </a:r>
            <a:r>
              <a:rPr lang="en-IN" sz="2400" b="1" dirty="0"/>
              <a:t>business</a:t>
            </a:r>
            <a:r>
              <a:rPr lang="en-IN" sz="2400" dirty="0"/>
              <a:t>, and </a:t>
            </a:r>
            <a:r>
              <a:rPr lang="en-IN" sz="2400" b="1" dirty="0"/>
              <a:t>database</a:t>
            </a:r>
            <a:r>
              <a:rPr lang="en-IN" sz="2400" dirty="0"/>
              <a:t> </a:t>
            </a:r>
            <a:r>
              <a:rPr lang="en-IN" sz="2400" b="1" dirty="0"/>
              <a:t>layers</a:t>
            </a:r>
            <a:r>
              <a:rPr lang="en-IN" sz="2400" dirty="0"/>
              <a:t>.</a:t>
            </a:r>
          </a:p>
          <a:p>
            <a:pPr>
              <a:lnSpc>
                <a:spcPct val="100000"/>
              </a:lnSpc>
            </a:pPr>
            <a:r>
              <a:rPr lang="en-IN" sz="2400" dirty="0"/>
              <a:t>Ensures </a:t>
            </a:r>
            <a:r>
              <a:rPr lang="en-IN" sz="2400" b="1" dirty="0"/>
              <a:t>portability</a:t>
            </a:r>
            <a:r>
              <a:rPr lang="en-IN" sz="2400" dirty="0"/>
              <a:t>, </a:t>
            </a:r>
            <a:r>
              <a:rPr lang="en-IN" sz="2400" b="1" dirty="0"/>
              <a:t>security</a:t>
            </a:r>
            <a:r>
              <a:rPr lang="en-IN" sz="2400" dirty="0"/>
              <a:t>, and </a:t>
            </a:r>
            <a:r>
              <a:rPr lang="en-IN" sz="2400" b="1" dirty="0"/>
              <a:t>scalability</a:t>
            </a:r>
            <a:r>
              <a:rPr lang="en-IN" sz="2400" dirty="0"/>
              <a:t> across </a:t>
            </a:r>
            <a:r>
              <a:rPr lang="en-IN" sz="2400" b="1" dirty="0"/>
              <a:t>servers</a:t>
            </a:r>
            <a:r>
              <a:rPr lang="en-IN" sz="240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5E8CA-5A4C-B818-B08D-BF037678D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of Java 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2400" b="1" dirty="0"/>
              <a:t>Multi-tier architecture</a:t>
            </a:r>
            <a:r>
              <a:rPr lang="en-IN" sz="2400" dirty="0"/>
              <a:t>: </a:t>
            </a:r>
            <a:r>
              <a:rPr lang="en-IN" sz="2400" b="1" dirty="0"/>
              <a:t>Client</a:t>
            </a:r>
            <a:r>
              <a:rPr lang="en-IN" sz="2400" dirty="0"/>
              <a:t>, </a:t>
            </a:r>
            <a:r>
              <a:rPr lang="en-IN" sz="2400" b="1" dirty="0"/>
              <a:t>Web</a:t>
            </a:r>
            <a:r>
              <a:rPr lang="en-IN" sz="2400" dirty="0"/>
              <a:t>, </a:t>
            </a:r>
            <a:r>
              <a:rPr lang="en-IN" sz="2400" b="1" dirty="0"/>
              <a:t>Business</a:t>
            </a:r>
            <a:r>
              <a:rPr lang="en-IN" sz="2400" dirty="0"/>
              <a:t>, and </a:t>
            </a:r>
            <a:r>
              <a:rPr lang="en-IN" sz="2400" b="1" dirty="0"/>
              <a:t>Data</a:t>
            </a:r>
            <a:r>
              <a:rPr lang="en-IN" sz="2400" dirty="0"/>
              <a:t> </a:t>
            </a:r>
            <a:r>
              <a:rPr lang="en-IN" sz="2400" b="1" dirty="0"/>
              <a:t>tiers</a:t>
            </a:r>
            <a:r>
              <a:rPr lang="en-IN" sz="2400" dirty="0"/>
              <a:t>.</a:t>
            </a:r>
          </a:p>
          <a:p>
            <a:pPr>
              <a:lnSpc>
                <a:spcPct val="100000"/>
              </a:lnSpc>
            </a:pPr>
            <a:r>
              <a:rPr lang="en-IN" sz="2400" dirty="0"/>
              <a:t>Platform </a:t>
            </a:r>
            <a:r>
              <a:rPr lang="en-IN" sz="2400" b="1" dirty="0"/>
              <a:t>independent</a:t>
            </a:r>
            <a:r>
              <a:rPr lang="en-IN" sz="2400" dirty="0"/>
              <a:t> and </a:t>
            </a:r>
            <a:r>
              <a:rPr lang="en-IN" sz="2400" b="1" dirty="0"/>
              <a:t>vendor</a:t>
            </a:r>
            <a:r>
              <a:rPr lang="en-IN" sz="2400" dirty="0"/>
              <a:t> </a:t>
            </a:r>
            <a:r>
              <a:rPr lang="en-IN" sz="2400" b="1" dirty="0"/>
              <a:t>neutral</a:t>
            </a:r>
            <a:r>
              <a:rPr lang="en-IN" sz="2400" dirty="0"/>
              <a:t>.</a:t>
            </a:r>
          </a:p>
          <a:p>
            <a:pPr>
              <a:lnSpc>
                <a:spcPct val="100000"/>
              </a:lnSpc>
            </a:pPr>
            <a:r>
              <a:rPr lang="en-IN" sz="2400" dirty="0"/>
              <a:t>Built-in support for </a:t>
            </a:r>
            <a:r>
              <a:rPr lang="en-IN" sz="2400" b="1" dirty="0"/>
              <a:t>security</a:t>
            </a:r>
            <a:r>
              <a:rPr lang="en-IN" sz="2400" dirty="0"/>
              <a:t>, </a:t>
            </a:r>
            <a:r>
              <a:rPr lang="en-IN" sz="2400" b="1" dirty="0"/>
              <a:t>transactions</a:t>
            </a:r>
            <a:r>
              <a:rPr lang="en-IN" sz="2400" dirty="0"/>
              <a:t>, and </a:t>
            </a:r>
            <a:r>
              <a:rPr lang="en-IN" sz="2400" b="1" dirty="0"/>
              <a:t>concurrency</a:t>
            </a:r>
            <a:r>
              <a:rPr lang="en-IN" sz="2400" dirty="0"/>
              <a:t>.</a:t>
            </a:r>
          </a:p>
          <a:p>
            <a:pPr>
              <a:lnSpc>
                <a:spcPct val="100000"/>
              </a:lnSpc>
            </a:pPr>
            <a:r>
              <a:rPr lang="en-IN" sz="2400" dirty="0"/>
              <a:t>Simplifies </a:t>
            </a:r>
            <a:r>
              <a:rPr lang="en-IN" sz="2400" b="1" dirty="0"/>
              <a:t>enterprise</a:t>
            </a:r>
            <a:r>
              <a:rPr lang="en-IN" sz="2400" dirty="0"/>
              <a:t> </a:t>
            </a:r>
            <a:r>
              <a:rPr lang="en-IN" sz="2400" b="1" dirty="0"/>
              <a:t>development</a:t>
            </a:r>
            <a:r>
              <a:rPr lang="en-IN" sz="2400" dirty="0"/>
              <a:t> using </a:t>
            </a:r>
            <a:r>
              <a:rPr lang="en-IN" sz="2400" b="1" dirty="0"/>
              <a:t>managed</a:t>
            </a:r>
            <a:r>
              <a:rPr lang="en-IN" sz="2400" dirty="0"/>
              <a:t> </a:t>
            </a:r>
            <a:r>
              <a:rPr lang="en-IN" sz="2400" b="1" dirty="0"/>
              <a:t>components</a:t>
            </a:r>
            <a:r>
              <a:rPr lang="en-IN" sz="240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40884-9A49-6ABF-1FD4-86A4DA034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EE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IN" sz="2800" b="1" dirty="0"/>
              <a:t>Servlets</a:t>
            </a:r>
            <a:r>
              <a:rPr lang="en-IN" sz="2800" dirty="0"/>
              <a:t> – Process HTTP requests and responses.</a:t>
            </a:r>
          </a:p>
          <a:p>
            <a:pPr>
              <a:lnSpc>
                <a:spcPct val="120000"/>
              </a:lnSpc>
            </a:pPr>
            <a:r>
              <a:rPr lang="en-IN" sz="2800" b="1" dirty="0"/>
              <a:t>JSP</a:t>
            </a:r>
            <a:r>
              <a:rPr lang="en-IN" sz="2800" dirty="0"/>
              <a:t> – Create dynamic web content.</a:t>
            </a:r>
          </a:p>
          <a:p>
            <a:pPr>
              <a:lnSpc>
                <a:spcPct val="120000"/>
              </a:lnSpc>
            </a:pPr>
            <a:r>
              <a:rPr lang="en-IN" sz="2800" b="1" dirty="0"/>
              <a:t>EJB</a:t>
            </a:r>
            <a:r>
              <a:rPr lang="en-IN" sz="2800" dirty="0"/>
              <a:t> – Handles business logic and transactions.</a:t>
            </a:r>
          </a:p>
          <a:p>
            <a:pPr>
              <a:lnSpc>
                <a:spcPct val="120000"/>
              </a:lnSpc>
            </a:pPr>
            <a:r>
              <a:rPr lang="en-IN" sz="2800" b="1" dirty="0"/>
              <a:t>JPA</a:t>
            </a:r>
            <a:r>
              <a:rPr lang="en-IN" sz="2800" dirty="0"/>
              <a:t> – ORM-based database interaction.</a:t>
            </a:r>
          </a:p>
          <a:p>
            <a:pPr>
              <a:lnSpc>
                <a:spcPct val="120000"/>
              </a:lnSpc>
            </a:pPr>
            <a:r>
              <a:rPr lang="en-IN" sz="2800" b="1" dirty="0"/>
              <a:t>JMS</a:t>
            </a:r>
            <a:r>
              <a:rPr lang="en-IN" sz="2800" dirty="0"/>
              <a:t> – Messaging between distributed systems.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63E81-9311-F816-1F7C-6A0A78D56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Applications and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IN" sz="2400" dirty="0"/>
              <a:t>Used in banking systems, </a:t>
            </a:r>
            <a:r>
              <a:rPr lang="en-IN" sz="2400" b="1" dirty="0"/>
              <a:t>ERP</a:t>
            </a:r>
            <a:r>
              <a:rPr lang="en-IN" sz="2400" dirty="0"/>
              <a:t> </a:t>
            </a:r>
            <a:r>
              <a:rPr lang="en-IN" sz="2400" b="1" dirty="0"/>
              <a:t>software</a:t>
            </a:r>
            <a:r>
              <a:rPr lang="en-IN" sz="2400" dirty="0"/>
              <a:t>, and </a:t>
            </a:r>
            <a:r>
              <a:rPr lang="en-IN" sz="2400" b="1" dirty="0"/>
              <a:t>e-commerce platforms</a:t>
            </a:r>
            <a:r>
              <a:rPr lang="en-IN" sz="2400" dirty="0"/>
              <a:t>.</a:t>
            </a:r>
          </a:p>
          <a:p>
            <a:pPr>
              <a:lnSpc>
                <a:spcPct val="110000"/>
              </a:lnSpc>
            </a:pPr>
            <a:r>
              <a:rPr lang="en-IN" sz="2400" dirty="0"/>
              <a:t>Supports </a:t>
            </a:r>
            <a:r>
              <a:rPr lang="en-IN" sz="2400" b="1" dirty="0"/>
              <a:t>secure</a:t>
            </a:r>
            <a:r>
              <a:rPr lang="en-IN" sz="2400" dirty="0"/>
              <a:t>, </a:t>
            </a:r>
            <a:r>
              <a:rPr lang="en-IN" sz="2400" b="1" dirty="0"/>
              <a:t>scalable</a:t>
            </a:r>
            <a:r>
              <a:rPr lang="en-IN" sz="2400" dirty="0"/>
              <a:t>, and </a:t>
            </a:r>
            <a:r>
              <a:rPr lang="en-IN" sz="2400" b="1" dirty="0"/>
              <a:t>maintainable</a:t>
            </a:r>
            <a:r>
              <a:rPr lang="en-IN" sz="2400" dirty="0"/>
              <a:t> </a:t>
            </a:r>
            <a:r>
              <a:rPr lang="en-IN" sz="2400" b="1" dirty="0"/>
              <a:t>applications</a:t>
            </a:r>
            <a:r>
              <a:rPr lang="en-IN" sz="2400" dirty="0"/>
              <a:t>.</a:t>
            </a:r>
          </a:p>
          <a:p>
            <a:pPr>
              <a:lnSpc>
                <a:spcPct val="110000"/>
              </a:lnSpc>
            </a:pPr>
            <a:r>
              <a:rPr lang="en-IN" sz="2400" b="1" dirty="0"/>
              <a:t>Java EE </a:t>
            </a:r>
            <a:r>
              <a:rPr lang="en-IN" sz="2400" dirty="0"/>
              <a:t>reduces </a:t>
            </a:r>
            <a:r>
              <a:rPr lang="en-IN" sz="2400" b="1" dirty="0"/>
              <a:t>development</a:t>
            </a:r>
            <a:r>
              <a:rPr lang="en-IN" sz="2400" dirty="0"/>
              <a:t> </a:t>
            </a:r>
            <a:r>
              <a:rPr lang="en-IN" sz="2400" b="1" dirty="0"/>
              <a:t>complexity</a:t>
            </a:r>
            <a:r>
              <a:rPr lang="en-IN" sz="2400" dirty="0"/>
              <a:t> using </a:t>
            </a:r>
            <a:r>
              <a:rPr lang="en-IN" sz="2400" b="1" dirty="0"/>
              <a:t>standard APIs</a:t>
            </a:r>
            <a:r>
              <a:rPr lang="en-IN" sz="2400" dirty="0"/>
              <a:t>.</a:t>
            </a:r>
          </a:p>
          <a:p>
            <a:pPr>
              <a:lnSpc>
                <a:spcPct val="110000"/>
              </a:lnSpc>
            </a:pPr>
            <a:r>
              <a:rPr lang="en-IN" sz="2400" dirty="0"/>
              <a:t>It </a:t>
            </a:r>
            <a:r>
              <a:rPr lang="en-IN" sz="2400" b="1" dirty="0"/>
              <a:t>remains</a:t>
            </a:r>
            <a:r>
              <a:rPr lang="en-IN" sz="2400" dirty="0"/>
              <a:t> a </a:t>
            </a:r>
            <a:r>
              <a:rPr lang="en-IN" sz="2400" b="1" dirty="0"/>
              <a:t>strong</a:t>
            </a:r>
            <a:r>
              <a:rPr lang="en-IN" sz="2400" dirty="0"/>
              <a:t> </a:t>
            </a:r>
            <a:r>
              <a:rPr lang="en-IN" sz="2400" b="1" dirty="0"/>
              <a:t>foundation</a:t>
            </a:r>
            <a:r>
              <a:rPr lang="en-IN" sz="2400" dirty="0"/>
              <a:t> for </a:t>
            </a:r>
            <a:r>
              <a:rPr lang="en-IN" sz="2400" b="1" dirty="0"/>
              <a:t>enterprise</a:t>
            </a:r>
            <a:r>
              <a:rPr lang="en-IN" sz="2400" dirty="0"/>
              <a:t> </a:t>
            </a:r>
            <a:r>
              <a:rPr lang="en-IN" sz="2400" b="1" dirty="0"/>
              <a:t>Java development</a:t>
            </a:r>
            <a:r>
              <a:rPr lang="en-IN" sz="240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3BBF8-E37B-D16F-E286-BF1CAC546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CUBANOINTER">
      <a:majorFont>
        <a:latin typeface="Cubano"/>
        <a:ea typeface=""/>
        <a:cs typeface=""/>
      </a:majorFont>
      <a:minorFont>
        <a:latin typeface="Inter"/>
        <a:ea typeface=""/>
        <a:cs typeface="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51</TotalTime>
  <Words>218</Words>
  <Application>Microsoft Office PowerPoint</Application>
  <PresentationFormat>On-screen Show (4:3)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Cubano</vt:lpstr>
      <vt:lpstr>Inter</vt:lpstr>
      <vt:lpstr>JetBrains Mono</vt:lpstr>
      <vt:lpstr>Wingdings 2</vt:lpstr>
      <vt:lpstr>View</vt:lpstr>
      <vt:lpstr>Introduction to Java enterprise Edition </vt:lpstr>
      <vt:lpstr>What is Java EE</vt:lpstr>
      <vt:lpstr>Key Features of Java EE</vt:lpstr>
      <vt:lpstr>Java EE Components</vt:lpstr>
      <vt:lpstr>Applications and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Amitendu Bikash Dhusiya</cp:lastModifiedBy>
  <cp:revision>3</cp:revision>
  <dcterms:created xsi:type="dcterms:W3CDTF">2013-01-27T09:14:16Z</dcterms:created>
  <dcterms:modified xsi:type="dcterms:W3CDTF">2026-01-30T14:03:07Z</dcterms:modified>
  <cp:category/>
</cp:coreProperties>
</file>