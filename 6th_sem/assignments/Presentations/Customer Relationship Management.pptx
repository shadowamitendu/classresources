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B1DDFF"/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tx2"/>
          </a:solidFill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34222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8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0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rgbClr val="B1DDFF">
                <a:lumMod val="64000"/>
                <a:lumOff val="36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tx2"/>
          </a:solidFill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32914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56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98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79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5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8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505454" y="6265818"/>
            <a:ext cx="3950208" cy="27432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7362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7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5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8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7338" y="6265818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265818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3555" y="6265818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08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1941241"/>
          </a:xfrm>
        </p:spPr>
        <p:txBody>
          <a:bodyPr>
            <a:normAutofit fontScale="90000"/>
          </a:bodyPr>
          <a:lstStyle/>
          <a:p>
            <a:r>
              <a:rPr dirty="0"/>
              <a:t>CRM as a Tool for Business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032504"/>
            <a:ext cx="6803136" cy="1344168"/>
          </a:xfrm>
        </p:spPr>
        <p:txBody>
          <a:bodyPr anchor="ctr">
            <a:normAutofit/>
          </a:bodyPr>
          <a:lstStyle/>
          <a:p>
            <a:pPr algn="l"/>
            <a:r>
              <a:rPr lang="en-IN" sz="1800" b="1" dirty="0"/>
              <a:t>Name</a:t>
            </a:r>
            <a:r>
              <a:rPr lang="en-IN" sz="1800" dirty="0"/>
              <a:t>		: Amitendu Bikash Dhusiya</a:t>
            </a:r>
          </a:p>
          <a:p>
            <a:pPr algn="l"/>
            <a:r>
              <a:rPr lang="en-IN" sz="1800" b="1" dirty="0"/>
              <a:t>Roll No</a:t>
            </a:r>
            <a:r>
              <a:rPr lang="en-IN" sz="1800" dirty="0"/>
              <a:t>		: </a:t>
            </a:r>
            <a:r>
              <a:rPr lang="en-IN"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15242723010</a:t>
            </a:r>
          </a:p>
          <a:p>
            <a:pPr algn="l"/>
            <a:r>
              <a:rPr sz="1800" b="1" dirty="0"/>
              <a:t>Subject</a:t>
            </a:r>
            <a:r>
              <a:rPr lang="en-IN" sz="1800" b="1" dirty="0"/>
              <a:t>Name</a:t>
            </a:r>
            <a:r>
              <a:rPr lang="en-IN" sz="1800" dirty="0"/>
              <a:t>	</a:t>
            </a:r>
            <a:r>
              <a:rPr sz="1800" dirty="0"/>
              <a:t>: Customer Relationship Management</a:t>
            </a:r>
          </a:p>
          <a:p>
            <a:pPr algn="l"/>
            <a:r>
              <a:rPr sz="1800" b="1" dirty="0"/>
              <a:t>Subject Code</a:t>
            </a:r>
            <a:r>
              <a:rPr lang="en-IN" sz="1800" dirty="0"/>
              <a:t>	</a:t>
            </a:r>
            <a:r>
              <a:rPr sz="1800" dirty="0"/>
              <a:t>: </a:t>
            </a:r>
            <a:r>
              <a:rPr sz="1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MIM601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sz="2800" b="1" dirty="0"/>
              <a:t>Customer Relationship Management </a:t>
            </a:r>
            <a:r>
              <a:rPr sz="2800" dirty="0"/>
              <a:t>(</a:t>
            </a:r>
            <a:r>
              <a:rPr sz="2800" b="1" dirty="0"/>
              <a:t>CRM</a:t>
            </a:r>
            <a:r>
              <a:rPr sz="2800" dirty="0"/>
              <a:t>) manages </a:t>
            </a:r>
            <a:r>
              <a:rPr sz="2800" b="1" dirty="0"/>
              <a:t>customer interactions</a:t>
            </a:r>
            <a:r>
              <a:rPr sz="2800" dirty="0"/>
              <a:t>.</a:t>
            </a:r>
          </a:p>
          <a:p>
            <a:pPr>
              <a:lnSpc>
                <a:spcPct val="150000"/>
              </a:lnSpc>
            </a:pPr>
            <a:r>
              <a:rPr sz="2800" b="1" dirty="0"/>
              <a:t>Focuses</a:t>
            </a:r>
            <a:r>
              <a:rPr sz="2800" dirty="0"/>
              <a:t> on </a:t>
            </a:r>
            <a:r>
              <a:rPr sz="2800" b="1" dirty="0"/>
              <a:t>understanding customer needs</a:t>
            </a:r>
            <a:r>
              <a:rPr sz="2800" dirty="0"/>
              <a:t> and </a:t>
            </a:r>
            <a:r>
              <a:rPr sz="2800" b="1" dirty="0"/>
              <a:t>behavior</a:t>
            </a:r>
            <a:r>
              <a:rPr sz="2800" dirty="0"/>
              <a:t>.</a:t>
            </a:r>
          </a:p>
          <a:p>
            <a:pPr>
              <a:lnSpc>
                <a:spcPct val="150000"/>
              </a:lnSpc>
            </a:pPr>
            <a:r>
              <a:rPr sz="2800" b="1" dirty="0"/>
              <a:t>Integrates</a:t>
            </a:r>
            <a:r>
              <a:rPr sz="2800" dirty="0"/>
              <a:t> </a:t>
            </a:r>
            <a:r>
              <a:rPr sz="2800" b="1" dirty="0"/>
              <a:t>sales</a:t>
            </a:r>
            <a:r>
              <a:rPr sz="2800" dirty="0"/>
              <a:t>, </a:t>
            </a:r>
            <a:r>
              <a:rPr sz="2800" b="1" dirty="0"/>
              <a:t>marketing</a:t>
            </a:r>
            <a:r>
              <a:rPr sz="2800" dirty="0"/>
              <a:t>, and </a:t>
            </a:r>
            <a:r>
              <a:rPr sz="2800" b="1" dirty="0"/>
              <a:t>customer</a:t>
            </a:r>
            <a:r>
              <a:rPr sz="2800" dirty="0"/>
              <a:t> </a:t>
            </a:r>
            <a:r>
              <a:rPr sz="2800" b="1" dirty="0"/>
              <a:t>service</a:t>
            </a:r>
            <a:r>
              <a:rPr sz="2800" dirty="0"/>
              <a:t>.</a:t>
            </a:r>
          </a:p>
          <a:p>
            <a:pPr>
              <a:lnSpc>
                <a:spcPct val="150000"/>
              </a:lnSpc>
            </a:pPr>
            <a:r>
              <a:rPr sz="2800" b="1" dirty="0"/>
              <a:t>Aims</a:t>
            </a:r>
            <a:r>
              <a:rPr sz="2800" dirty="0"/>
              <a:t> to </a:t>
            </a:r>
            <a:r>
              <a:rPr sz="2800" b="1" dirty="0"/>
              <a:t>build</a:t>
            </a:r>
            <a:r>
              <a:rPr sz="2800" dirty="0"/>
              <a:t> </a:t>
            </a:r>
            <a:r>
              <a:rPr sz="2800" b="1" dirty="0"/>
              <a:t>long-term</a:t>
            </a:r>
            <a:r>
              <a:rPr sz="2800" dirty="0"/>
              <a:t> </a:t>
            </a:r>
            <a:r>
              <a:rPr sz="2800" b="1" dirty="0"/>
              <a:t>customer</a:t>
            </a:r>
            <a:r>
              <a:rPr sz="2800" dirty="0"/>
              <a:t> </a:t>
            </a:r>
            <a:r>
              <a:rPr sz="2800" b="1" dirty="0"/>
              <a:t>relationships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b="1" dirty="0"/>
              <a:t>Improve</a:t>
            </a:r>
            <a:r>
              <a:rPr sz="2400" dirty="0"/>
              <a:t> </a:t>
            </a:r>
            <a:r>
              <a:rPr sz="2400" b="1" dirty="0"/>
              <a:t>customer</a:t>
            </a:r>
            <a:r>
              <a:rPr sz="2400" dirty="0"/>
              <a:t> </a:t>
            </a:r>
            <a:r>
              <a:rPr sz="2400" b="1" dirty="0"/>
              <a:t>satisfaction</a:t>
            </a:r>
            <a:r>
              <a:rPr sz="2400" dirty="0"/>
              <a:t> and </a:t>
            </a:r>
            <a:r>
              <a:rPr sz="2400" b="1" dirty="0"/>
              <a:t>loyalty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b="1" dirty="0"/>
              <a:t>Increase</a:t>
            </a:r>
            <a:r>
              <a:rPr sz="2400" dirty="0"/>
              <a:t> </a:t>
            </a:r>
            <a:r>
              <a:rPr sz="2400" b="1" dirty="0"/>
              <a:t>customer retention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dirty="0"/>
              <a:t>Enhance </a:t>
            </a:r>
            <a:r>
              <a:rPr sz="2400" b="1" dirty="0"/>
              <a:t>marketing</a:t>
            </a:r>
            <a:r>
              <a:rPr sz="2400" dirty="0"/>
              <a:t> and </a:t>
            </a:r>
            <a:r>
              <a:rPr sz="2400" b="1" dirty="0"/>
              <a:t>sales</a:t>
            </a:r>
            <a:r>
              <a:rPr sz="2400" dirty="0"/>
              <a:t> </a:t>
            </a:r>
            <a:r>
              <a:rPr sz="2400" b="1" dirty="0"/>
              <a:t>efficiency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dirty="0"/>
              <a:t>Provide </a:t>
            </a:r>
            <a:r>
              <a:rPr sz="2400" b="1" dirty="0"/>
              <a:t>better</a:t>
            </a:r>
            <a:r>
              <a:rPr sz="2400" dirty="0"/>
              <a:t> </a:t>
            </a:r>
            <a:r>
              <a:rPr sz="2400" b="1" dirty="0"/>
              <a:t>customer</a:t>
            </a:r>
            <a:r>
              <a:rPr sz="2400" dirty="0"/>
              <a:t> </a:t>
            </a:r>
            <a:r>
              <a:rPr sz="2400" b="1" dirty="0"/>
              <a:t>service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CRM Tools and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b="1" dirty="0"/>
              <a:t>Operational CRM </a:t>
            </a:r>
            <a:r>
              <a:rPr sz="2400" dirty="0"/>
              <a:t>– Automates sales and services.</a:t>
            </a:r>
          </a:p>
          <a:p>
            <a:pPr>
              <a:lnSpc>
                <a:spcPct val="150000"/>
              </a:lnSpc>
            </a:pPr>
            <a:r>
              <a:rPr sz="2400" b="1" dirty="0"/>
              <a:t>Analytical CRM </a:t>
            </a:r>
            <a:r>
              <a:rPr sz="2400" dirty="0"/>
              <a:t>– Analyzes customer data.</a:t>
            </a:r>
          </a:p>
          <a:p>
            <a:pPr>
              <a:lnSpc>
                <a:spcPct val="150000"/>
              </a:lnSpc>
            </a:pPr>
            <a:r>
              <a:rPr sz="2400" b="1" dirty="0"/>
              <a:t>Collaborative CRM </a:t>
            </a:r>
            <a:r>
              <a:rPr sz="2400" dirty="0"/>
              <a:t>– Improves communication.</a:t>
            </a:r>
          </a:p>
          <a:p>
            <a:pPr>
              <a:lnSpc>
                <a:spcPct val="150000"/>
              </a:lnSpc>
            </a:pPr>
            <a:r>
              <a:rPr sz="2400" b="1" dirty="0"/>
              <a:t>Examples</a:t>
            </a:r>
            <a:r>
              <a:rPr sz="2400" dirty="0"/>
              <a:t>: </a:t>
            </a:r>
            <a:r>
              <a:rPr sz="2400" i="1" dirty="0"/>
              <a:t>Salesforce</a:t>
            </a:r>
            <a:r>
              <a:rPr sz="2400" dirty="0"/>
              <a:t>, </a:t>
            </a:r>
            <a:r>
              <a:rPr sz="2400" i="1" dirty="0"/>
              <a:t>Zoho CRM</a:t>
            </a:r>
            <a:r>
              <a:rPr sz="2400" dirty="0"/>
              <a:t>, </a:t>
            </a:r>
            <a:r>
              <a:rPr sz="2400" i="1" dirty="0"/>
              <a:t>HubSpot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CRM and Business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Identifies </a:t>
            </a:r>
            <a:r>
              <a:rPr sz="2400" b="1" dirty="0"/>
              <a:t>profitable</a:t>
            </a:r>
            <a:r>
              <a:rPr sz="2400" dirty="0"/>
              <a:t> </a:t>
            </a:r>
            <a:r>
              <a:rPr sz="2400" b="1" dirty="0"/>
              <a:t>customers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dirty="0"/>
              <a:t>Improves </a:t>
            </a:r>
            <a:r>
              <a:rPr sz="2400" b="1" dirty="0"/>
              <a:t>customer</a:t>
            </a:r>
            <a:r>
              <a:rPr sz="2400" dirty="0"/>
              <a:t> </a:t>
            </a:r>
            <a:r>
              <a:rPr sz="2400" b="1" dirty="0"/>
              <a:t>retention</a:t>
            </a:r>
            <a:r>
              <a:rPr sz="2400" dirty="0"/>
              <a:t> and </a:t>
            </a:r>
            <a:r>
              <a:rPr sz="2400" b="1" dirty="0"/>
              <a:t>repeat</a:t>
            </a:r>
            <a:r>
              <a:rPr sz="2400" dirty="0"/>
              <a:t> </a:t>
            </a:r>
            <a:r>
              <a:rPr sz="2400" b="1" dirty="0"/>
              <a:t>sales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dirty="0"/>
              <a:t>Enables </a:t>
            </a:r>
            <a:r>
              <a:rPr sz="2400" b="1" dirty="0"/>
              <a:t>personalized</a:t>
            </a:r>
            <a:r>
              <a:rPr sz="2400" dirty="0"/>
              <a:t> </a:t>
            </a:r>
            <a:r>
              <a:rPr sz="2400" b="1" dirty="0"/>
              <a:t>marketing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dirty="0"/>
              <a:t>Supports </a:t>
            </a:r>
            <a:r>
              <a:rPr sz="2400" b="1" dirty="0"/>
              <a:t>data-driven</a:t>
            </a:r>
            <a:r>
              <a:rPr sz="2400" dirty="0"/>
              <a:t> </a:t>
            </a:r>
            <a:r>
              <a:rPr sz="2400" i="1" dirty="0"/>
              <a:t>decision</a:t>
            </a:r>
            <a:r>
              <a:rPr sz="2400" dirty="0"/>
              <a:t> </a:t>
            </a:r>
            <a:r>
              <a:rPr sz="2400" i="1" dirty="0"/>
              <a:t>making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i="1" dirty="0"/>
              <a:t>Enhances</a:t>
            </a:r>
            <a:r>
              <a:rPr sz="2400" dirty="0"/>
              <a:t> </a:t>
            </a:r>
            <a:r>
              <a:rPr sz="2400" b="1" dirty="0"/>
              <a:t>customer</a:t>
            </a:r>
            <a:r>
              <a:rPr sz="2400" dirty="0"/>
              <a:t> </a:t>
            </a:r>
            <a:r>
              <a:rPr sz="2400" b="1" dirty="0"/>
              <a:t>experience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i="1" dirty="0"/>
              <a:t>Increases</a:t>
            </a:r>
            <a:r>
              <a:rPr sz="2400" dirty="0"/>
              <a:t> </a:t>
            </a:r>
            <a:r>
              <a:rPr sz="2400" b="1" dirty="0"/>
              <a:t>revenue</a:t>
            </a:r>
            <a:r>
              <a:rPr sz="2400" dirty="0"/>
              <a:t> and </a:t>
            </a:r>
            <a:r>
              <a:rPr sz="2400" b="1" dirty="0"/>
              <a:t>efficiency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b="1" dirty="0"/>
              <a:t>Strengthens</a:t>
            </a:r>
            <a:r>
              <a:rPr sz="2400" dirty="0"/>
              <a:t> </a:t>
            </a:r>
            <a:r>
              <a:rPr sz="2400" b="1" dirty="0"/>
              <a:t>brand loyalty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b="1" dirty="0"/>
              <a:t>CRM</a:t>
            </a:r>
            <a:r>
              <a:rPr sz="2400" dirty="0"/>
              <a:t> is </a:t>
            </a:r>
            <a:r>
              <a:rPr sz="2400" b="1" dirty="0"/>
              <a:t>essential</a:t>
            </a:r>
            <a:r>
              <a:rPr sz="2400" dirty="0"/>
              <a:t> for </a:t>
            </a:r>
            <a:r>
              <a:rPr sz="2400" b="1" dirty="0"/>
              <a:t>business growth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A3F0-461E-7303-3FE2-8690F614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5685054"/>
          </a:xfrm>
        </p:spPr>
        <p:txBody>
          <a:bodyPr/>
          <a:lstStyle/>
          <a:p>
            <a:pPr algn="ctr"/>
            <a:r>
              <a:rPr lang="en-IN" sz="8000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274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CUBANOINTER">
      <a:majorFont>
        <a:latin typeface="Cubano"/>
        <a:ea typeface=""/>
        <a:cs typeface=""/>
      </a:majorFont>
      <a:minorFont>
        <a:latin typeface="Inter"/>
        <a:ea typeface=""/>
        <a:cs typeface="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10</TotalTime>
  <Words>175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Cubano</vt:lpstr>
      <vt:lpstr>Inter</vt:lpstr>
      <vt:lpstr>JetBrains Mono</vt:lpstr>
      <vt:lpstr>Savon</vt:lpstr>
      <vt:lpstr>CRM as a Tool for Business Growth</vt:lpstr>
      <vt:lpstr>Introduction to CRM</vt:lpstr>
      <vt:lpstr>Objectives of CRM</vt:lpstr>
      <vt:lpstr>CRM Tools and Types</vt:lpstr>
      <vt:lpstr>CRM and Business Growth</vt:lpstr>
      <vt:lpstr>Benefits and Conclusion</vt:lpstr>
      <vt:lpstr>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Amitendu Bikash Dhusiya</cp:lastModifiedBy>
  <cp:revision>2</cp:revision>
  <dcterms:created xsi:type="dcterms:W3CDTF">2013-01-27T09:14:16Z</dcterms:created>
  <dcterms:modified xsi:type="dcterms:W3CDTF">2026-01-30T15:35:56Z</dcterms:modified>
  <cp:category/>
</cp:coreProperties>
</file>