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6337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9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2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82638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561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7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139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61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151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1" y="5105400"/>
            <a:ext cx="8417859" cy="1752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41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695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38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3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spc="-7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3547872"/>
          </a:xfrm>
        </p:spPr>
        <p:txBody>
          <a:bodyPr>
            <a:normAutofit fontScale="90000"/>
          </a:bodyPr>
          <a:lstStyle/>
          <a:p>
            <a:r>
              <a:rPr sz="8800" dirty="0"/>
              <a:t>Data Communication and Networking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306824"/>
            <a:ext cx="7063740" cy="2185416"/>
          </a:xfrm>
        </p:spPr>
        <p:txBody>
          <a:bodyPr anchor="ctr">
            <a:normAutofit/>
          </a:bodyPr>
          <a:lstStyle/>
          <a:p>
            <a:r>
              <a:rPr b="1" dirty="0"/>
              <a:t>Name</a:t>
            </a:r>
            <a:r>
              <a:rPr lang="en-IN" dirty="0"/>
              <a:t>		</a:t>
            </a:r>
            <a:r>
              <a:rPr dirty="0"/>
              <a:t>: Amitendu Bikash Dhusiya</a:t>
            </a:r>
          </a:p>
          <a:p>
            <a:r>
              <a:rPr b="1" dirty="0"/>
              <a:t>Roll No</a:t>
            </a:r>
            <a:r>
              <a:rPr lang="en-IN" b="1" dirty="0"/>
              <a:t>	</a:t>
            </a:r>
            <a:r>
              <a:rPr lang="en-IN" dirty="0"/>
              <a:t>	</a:t>
            </a:r>
            <a:r>
              <a:rPr dirty="0"/>
              <a:t>: </a:t>
            </a:r>
            <a:r>
              <a:rPr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15242723010</a:t>
            </a:r>
          </a:p>
          <a:p>
            <a:r>
              <a:rPr b="1" dirty="0"/>
              <a:t>Course</a:t>
            </a:r>
            <a:r>
              <a:rPr lang="en-IN" dirty="0"/>
              <a:t>	</a:t>
            </a:r>
            <a:r>
              <a:rPr dirty="0"/>
              <a:t>: </a:t>
            </a:r>
            <a:r>
              <a:rPr lang="en-IN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BCAC603</a:t>
            </a:r>
            <a:endParaRPr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b="1" dirty="0"/>
              <a:t>Subject</a:t>
            </a:r>
            <a:r>
              <a:rPr lang="en-IN" dirty="0"/>
              <a:t>	</a:t>
            </a:r>
            <a:r>
              <a:rPr dirty="0"/>
              <a:t>: </a:t>
            </a:r>
            <a:r>
              <a:rPr lang="en-IN" dirty="0"/>
              <a:t>Networking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Data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dirty="0"/>
              <a:t>Data communication is the exchange of data between two or more network devices.</a:t>
            </a:r>
          </a:p>
          <a:p>
            <a:pPr>
              <a:lnSpc>
                <a:spcPct val="100000"/>
              </a:lnSpc>
            </a:pPr>
            <a:r>
              <a:rPr dirty="0"/>
              <a:t>It involves transmission of digital or analog data over a communication channel.</a:t>
            </a:r>
          </a:p>
          <a:p>
            <a:pPr>
              <a:lnSpc>
                <a:spcPct val="100000"/>
              </a:lnSpc>
            </a:pPr>
            <a:r>
              <a:rPr dirty="0"/>
              <a:t>It is the basic foundation of computer networking.</a:t>
            </a:r>
          </a:p>
          <a:p>
            <a:pPr>
              <a:lnSpc>
                <a:spcPct val="100000"/>
              </a:lnSpc>
            </a:pPr>
            <a:r>
              <a:rPr dirty="0"/>
              <a:t>Efficient data communication ensures reliable and fast information transfer.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Data Communication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7DA49F8-28D8-F906-1F5A-9555724D2BD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16582" y="4711105"/>
            <a:ext cx="4741418" cy="1605963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2527B3-9C5A-5B43-F749-D6FA410BB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9302" y="1828801"/>
            <a:ext cx="6935978" cy="2744825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IN" b="1" dirty="0"/>
              <a:t>Sender</a:t>
            </a:r>
            <a:r>
              <a:rPr lang="en-IN" dirty="0"/>
              <a:t> – Device that originates the data.</a:t>
            </a:r>
          </a:p>
          <a:p>
            <a:pPr>
              <a:lnSpc>
                <a:spcPct val="100000"/>
              </a:lnSpc>
            </a:pPr>
            <a:r>
              <a:rPr lang="en-IN" b="1" dirty="0"/>
              <a:t>Receiver</a:t>
            </a:r>
            <a:r>
              <a:rPr lang="en-IN" dirty="0"/>
              <a:t> – Device that receives the data.</a:t>
            </a:r>
          </a:p>
          <a:p>
            <a:pPr>
              <a:lnSpc>
                <a:spcPct val="100000"/>
              </a:lnSpc>
            </a:pPr>
            <a:r>
              <a:rPr lang="en-IN" b="1" dirty="0"/>
              <a:t>Message</a:t>
            </a:r>
            <a:r>
              <a:rPr lang="en-IN" dirty="0"/>
              <a:t> – Information to be transmitted.</a:t>
            </a:r>
          </a:p>
          <a:p>
            <a:pPr>
              <a:lnSpc>
                <a:spcPct val="100000"/>
              </a:lnSpc>
            </a:pPr>
            <a:r>
              <a:rPr lang="en-IN" b="1" dirty="0"/>
              <a:t>Transmission Medium</a:t>
            </a:r>
            <a:r>
              <a:rPr lang="en-IN" dirty="0"/>
              <a:t> – Physical or wireless path for data.</a:t>
            </a:r>
          </a:p>
          <a:p>
            <a:pPr>
              <a:lnSpc>
                <a:spcPct val="100000"/>
              </a:lnSpc>
            </a:pPr>
            <a:r>
              <a:rPr lang="en-IN" b="1" dirty="0"/>
              <a:t>Protocol</a:t>
            </a:r>
            <a:r>
              <a:rPr lang="en-IN" dirty="0"/>
              <a:t> – Set of rules for communication.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Modes of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b="1" dirty="0"/>
              <a:t>Simplex</a:t>
            </a:r>
            <a:r>
              <a:rPr lang="en-IN" b="1" dirty="0"/>
              <a:t>:</a:t>
            </a:r>
            <a:endParaRPr lang="en-IN" dirty="0"/>
          </a:p>
          <a:p>
            <a:pPr lvl="1">
              <a:lnSpc>
                <a:spcPct val="120000"/>
              </a:lnSpc>
            </a:pPr>
            <a:r>
              <a:rPr dirty="0"/>
              <a:t>One-way communication</a:t>
            </a:r>
            <a:r>
              <a:rPr lang="en-IN" dirty="0"/>
              <a:t>.</a:t>
            </a:r>
          </a:p>
          <a:p>
            <a:pPr lvl="1">
              <a:lnSpc>
                <a:spcPct val="120000"/>
              </a:lnSpc>
            </a:pPr>
            <a:r>
              <a:rPr lang="en-IN" b="1" dirty="0"/>
              <a:t>Sender</a:t>
            </a:r>
            <a:r>
              <a:rPr lang="en-IN" dirty="0"/>
              <a:t> Sends </a:t>
            </a:r>
            <a:r>
              <a:rPr lang="en-IN" b="1" dirty="0"/>
              <a:t>Only</a:t>
            </a:r>
            <a:r>
              <a:rPr lang="en-IN" dirty="0"/>
              <a:t> and </a:t>
            </a:r>
            <a:r>
              <a:rPr lang="en-IN" b="1" dirty="0"/>
              <a:t>Receiver</a:t>
            </a:r>
            <a:r>
              <a:rPr lang="en-IN" dirty="0"/>
              <a:t> Only </a:t>
            </a:r>
            <a:r>
              <a:rPr lang="en-IN" b="1" dirty="0"/>
              <a:t>Receives</a:t>
            </a:r>
            <a:r>
              <a:rPr lang="en-IN" dirty="0"/>
              <a:t>. </a:t>
            </a:r>
            <a:r>
              <a:rPr lang="en-IN" sz="1500" dirty="0"/>
              <a:t>(</a:t>
            </a:r>
            <a:r>
              <a:rPr lang="en-IN" sz="1500" i="1" dirty="0"/>
              <a:t>Cannot be Reversed</a:t>
            </a:r>
            <a:r>
              <a:rPr lang="en-IN" sz="1500" dirty="0"/>
              <a:t>)</a:t>
            </a:r>
            <a:endParaRPr lang="en-IN" dirty="0"/>
          </a:p>
          <a:p>
            <a:pPr lvl="1">
              <a:lnSpc>
                <a:spcPct val="120000"/>
              </a:lnSpc>
            </a:pPr>
            <a:r>
              <a:rPr b="1" dirty="0"/>
              <a:t>Example</a:t>
            </a:r>
            <a:r>
              <a:rPr dirty="0"/>
              <a:t>: </a:t>
            </a:r>
            <a:r>
              <a:rPr b="1" dirty="0"/>
              <a:t>Keyboard</a:t>
            </a:r>
            <a:r>
              <a:rPr dirty="0"/>
              <a:t> to </a:t>
            </a:r>
            <a:r>
              <a:rPr lang="en-IN" dirty="0"/>
              <a:t>a </a:t>
            </a:r>
            <a:r>
              <a:rPr lang="en-IN" b="1" dirty="0"/>
              <a:t>PC</a:t>
            </a:r>
            <a:r>
              <a:rPr dirty="0"/>
              <a:t>.</a:t>
            </a:r>
          </a:p>
          <a:p>
            <a:pPr>
              <a:lnSpc>
                <a:spcPct val="120000"/>
              </a:lnSpc>
            </a:pPr>
            <a:r>
              <a:rPr b="1" dirty="0"/>
              <a:t>Half Duplex</a:t>
            </a:r>
            <a:r>
              <a:rPr lang="en-IN" b="1" dirty="0"/>
              <a:t>:</a:t>
            </a:r>
          </a:p>
          <a:p>
            <a:pPr lvl="1">
              <a:lnSpc>
                <a:spcPct val="120000"/>
              </a:lnSpc>
            </a:pPr>
            <a:r>
              <a:rPr dirty="0"/>
              <a:t>Two-way but one direction at a time</a:t>
            </a:r>
            <a:endParaRPr lang="en-IN" dirty="0"/>
          </a:p>
          <a:p>
            <a:pPr lvl="1">
              <a:lnSpc>
                <a:spcPct val="120000"/>
              </a:lnSpc>
            </a:pPr>
            <a:r>
              <a:rPr lang="en-IN" b="1" dirty="0"/>
              <a:t>Not</a:t>
            </a:r>
            <a:r>
              <a:rPr lang="en-IN" dirty="0"/>
              <a:t> at the </a:t>
            </a:r>
            <a:r>
              <a:rPr lang="en-IN" b="1" dirty="0"/>
              <a:t>Same</a:t>
            </a:r>
            <a:r>
              <a:rPr lang="en-IN" dirty="0"/>
              <a:t> time </a:t>
            </a:r>
            <a:r>
              <a:rPr lang="en-IN" b="1" dirty="0"/>
              <a:t>Only</a:t>
            </a:r>
            <a:r>
              <a:rPr lang="en-IN" dirty="0"/>
              <a:t> </a:t>
            </a:r>
            <a:r>
              <a:rPr lang="en-IN" b="1" dirty="0"/>
              <a:t>one</a:t>
            </a:r>
            <a:r>
              <a:rPr lang="en-IN" dirty="0"/>
              <a:t> can </a:t>
            </a:r>
            <a:r>
              <a:rPr lang="en-IN" b="1" dirty="0"/>
              <a:t>send data </a:t>
            </a:r>
            <a:r>
              <a:rPr lang="en-IN" dirty="0"/>
              <a:t>then the </a:t>
            </a:r>
            <a:r>
              <a:rPr lang="en-IN" b="1" dirty="0"/>
              <a:t>receiver</a:t>
            </a:r>
            <a:r>
              <a:rPr lang="en-IN" dirty="0"/>
              <a:t> can send </a:t>
            </a:r>
            <a:r>
              <a:rPr lang="en-IN" b="1" dirty="0"/>
              <a:t>data </a:t>
            </a:r>
            <a:r>
              <a:rPr lang="en-IN" dirty="0"/>
              <a:t>to the </a:t>
            </a:r>
            <a:r>
              <a:rPr lang="en-IN" b="1" dirty="0"/>
              <a:t>sender</a:t>
            </a:r>
          </a:p>
          <a:p>
            <a:pPr lvl="1">
              <a:lnSpc>
                <a:spcPct val="120000"/>
              </a:lnSpc>
            </a:pPr>
            <a:r>
              <a:rPr b="1" dirty="0"/>
              <a:t>Example</a:t>
            </a:r>
            <a:r>
              <a:rPr dirty="0"/>
              <a:t>: </a:t>
            </a:r>
            <a:r>
              <a:rPr b="1" dirty="0"/>
              <a:t>Walkie-talkie</a:t>
            </a:r>
            <a:r>
              <a:rPr dirty="0"/>
              <a:t>.</a:t>
            </a:r>
          </a:p>
          <a:p>
            <a:pPr>
              <a:lnSpc>
                <a:spcPct val="120000"/>
              </a:lnSpc>
            </a:pPr>
            <a:r>
              <a:rPr b="1" dirty="0"/>
              <a:t>Full Duplex</a:t>
            </a:r>
            <a:r>
              <a:rPr lang="en-IN" b="1" dirty="0"/>
              <a:t>:</a:t>
            </a:r>
            <a:r>
              <a:rPr dirty="0"/>
              <a:t> </a:t>
            </a:r>
            <a:endParaRPr lang="en-IN" dirty="0"/>
          </a:p>
          <a:p>
            <a:pPr lvl="1">
              <a:lnSpc>
                <a:spcPct val="120000"/>
              </a:lnSpc>
            </a:pPr>
            <a:r>
              <a:rPr dirty="0"/>
              <a:t>Two-way simultaneous communication</a:t>
            </a:r>
            <a:endParaRPr lang="en-IN" dirty="0"/>
          </a:p>
          <a:p>
            <a:pPr lvl="1">
              <a:lnSpc>
                <a:spcPct val="120000"/>
              </a:lnSpc>
            </a:pPr>
            <a:r>
              <a:rPr lang="en-IN" b="1" dirty="0"/>
              <a:t>Both</a:t>
            </a:r>
            <a:r>
              <a:rPr lang="en-IN" dirty="0"/>
              <a:t> can </a:t>
            </a:r>
            <a:r>
              <a:rPr lang="en-IN" b="1" dirty="0"/>
              <a:t>send</a:t>
            </a:r>
            <a:r>
              <a:rPr lang="en-IN" dirty="0"/>
              <a:t> </a:t>
            </a:r>
            <a:r>
              <a:rPr lang="en-IN" b="1" dirty="0"/>
              <a:t>data</a:t>
            </a:r>
            <a:r>
              <a:rPr lang="en-IN" dirty="0"/>
              <a:t> at the </a:t>
            </a:r>
            <a:r>
              <a:rPr lang="en-IN" b="1" dirty="0"/>
              <a:t>same</a:t>
            </a:r>
            <a:r>
              <a:rPr lang="en-IN" dirty="0"/>
              <a:t> </a:t>
            </a:r>
            <a:r>
              <a:rPr lang="en-IN" b="1" dirty="0"/>
              <a:t>time</a:t>
            </a:r>
            <a:r>
              <a:rPr lang="en-IN" dirty="0"/>
              <a:t>.</a:t>
            </a:r>
          </a:p>
          <a:p>
            <a:pPr lvl="1">
              <a:lnSpc>
                <a:spcPct val="120000"/>
              </a:lnSpc>
            </a:pPr>
            <a:r>
              <a:rPr b="1" dirty="0"/>
              <a:t>Example</a:t>
            </a:r>
            <a:r>
              <a:rPr dirty="0"/>
              <a:t>: </a:t>
            </a:r>
            <a:r>
              <a:rPr b="1" dirty="0"/>
              <a:t>Telephone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Fundamental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b="1" dirty="0"/>
              <a:t>Delivery</a:t>
            </a:r>
            <a:r>
              <a:rPr sz="2400" dirty="0"/>
              <a:t> – Data must reach the correct destination.</a:t>
            </a:r>
          </a:p>
          <a:p>
            <a:pPr>
              <a:lnSpc>
                <a:spcPct val="150000"/>
              </a:lnSpc>
            </a:pPr>
            <a:r>
              <a:rPr sz="2400" b="1" dirty="0"/>
              <a:t>Accuracy</a:t>
            </a:r>
            <a:r>
              <a:rPr sz="2400" dirty="0"/>
              <a:t> – Data must be error-free.</a:t>
            </a:r>
          </a:p>
          <a:p>
            <a:pPr>
              <a:lnSpc>
                <a:spcPct val="150000"/>
              </a:lnSpc>
            </a:pPr>
            <a:r>
              <a:rPr sz="2400" b="1" dirty="0"/>
              <a:t>Timeliness</a:t>
            </a:r>
            <a:r>
              <a:rPr sz="2400" dirty="0"/>
              <a:t> – Data must arrive on time.</a:t>
            </a:r>
          </a:p>
          <a:p>
            <a:pPr>
              <a:lnSpc>
                <a:spcPct val="150000"/>
              </a:lnSpc>
            </a:pPr>
            <a:r>
              <a:rPr sz="2400" b="1" dirty="0"/>
              <a:t>Jitter</a:t>
            </a:r>
            <a:r>
              <a:rPr sz="2400" dirty="0"/>
              <a:t> – Variation in packet arrival time should be minimal.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1371600"/>
          </a:xfrm>
        </p:spPr>
        <p:txBody>
          <a:bodyPr>
            <a:normAutofit/>
          </a:bodyPr>
          <a:lstStyle/>
          <a:p>
            <a:r>
              <a:rPr sz="4400" dirty="0"/>
              <a:t>Physical Structure – Network Topology</a:t>
            </a:r>
          </a:p>
        </p:txBody>
      </p:sp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1E19AE42-5D98-1BB3-AC00-A2ECEDE9F18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-19402" b="-19402"/>
          <a:stretch>
            <a:fillRect/>
          </a:stretch>
        </p:blipFill>
        <p:spPr>
          <a:xfrm>
            <a:off x="0" y="0"/>
            <a:ext cx="8469313" cy="51292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C2DB0B-6A68-FBE0-C117-3165646AD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430768" cy="6858000"/>
          </a:xfrm>
        </p:spPr>
        <p:txBody>
          <a:bodyPr anchor="ctr">
            <a:normAutofit/>
          </a:bodyPr>
          <a:lstStyle/>
          <a:p>
            <a:pPr algn="ctr"/>
            <a:r>
              <a:rPr lang="en-IN" sz="7200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94796366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Bilmone - Inter">
      <a:majorFont>
        <a:latin typeface="Blimone Bold Inktrap"/>
        <a:ea typeface=""/>
        <a:cs typeface=""/>
      </a:majorFont>
      <a:minorFont>
        <a:latin typeface="Inter"/>
        <a:ea typeface=""/>
        <a:cs typeface="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23C5FE65-18CC-4A65-9EBC-B05E331504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99</TotalTime>
  <Words>243</Words>
  <Application>Microsoft Office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Blimone Bold Inktrap</vt:lpstr>
      <vt:lpstr>Inter</vt:lpstr>
      <vt:lpstr>JetBrains Mono</vt:lpstr>
      <vt:lpstr>Wingdings 2</vt:lpstr>
      <vt:lpstr>View</vt:lpstr>
      <vt:lpstr>Data Communication and Networking</vt:lpstr>
      <vt:lpstr>Introduction to Data Communication</vt:lpstr>
      <vt:lpstr>Components of Data Communication</vt:lpstr>
      <vt:lpstr>Modes of Communication</vt:lpstr>
      <vt:lpstr>Fundamental Characteristics</vt:lpstr>
      <vt:lpstr>Physical Structure – Network Topology</vt:lpstr>
      <vt:lpstr>THANKYOU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Amitendu Bikash Dhusiya</cp:lastModifiedBy>
  <cp:revision>2</cp:revision>
  <dcterms:created xsi:type="dcterms:W3CDTF">2013-01-27T09:14:16Z</dcterms:created>
  <dcterms:modified xsi:type="dcterms:W3CDTF">2026-01-30T15:20:42Z</dcterms:modified>
  <cp:category/>
</cp:coreProperties>
</file>